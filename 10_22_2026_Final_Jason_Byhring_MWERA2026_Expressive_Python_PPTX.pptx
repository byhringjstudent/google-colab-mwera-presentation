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7" r:id="rId3"/>
    <p:sldId id="276" r:id="rId4"/>
    <p:sldId id="257" r:id="rId5"/>
    <p:sldId id="258" r:id="rId6"/>
    <p:sldId id="259" r:id="rId7"/>
    <p:sldId id="260" r:id="rId8"/>
    <p:sldId id="280" r:id="rId9"/>
    <p:sldId id="281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8" r:id="rId26"/>
    <p:sldId id="279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56" dt="2026-10-22T17:53:44.998"/>
    <p1510:client id="{F3E8713E-A4B4-F302-4738-7BE2B52D68BE}" v="1092" dt="2026-10-22T19:54:50.8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BCD4"/>
                </a:solidFill>
                <a:latin typeface="Aptos"/>
              </a:rPr>
              <a:t>MWERA 2026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Aptos"/>
              </a:rPr>
              <a:t>Expressive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47088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4B400"/>
                </a:solidFill>
                <a:latin typeface="Aptos"/>
              </a:rPr>
              <a:t>Applying Python to Educational and Scientific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1460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BCCADA"/>
                </a:solidFill>
                <a:latin typeface="Aptos"/>
              </a:rPr>
              <a:t>A hands-on, beginner-friendly workshop using Google Colab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154680"/>
            <a:ext cx="10835640" cy="2331720"/>
          </a:xfrm>
          <a:prstGeom prst="roundRect">
            <a:avLst/>
          </a:prstGeom>
          <a:solidFill>
            <a:srgbClr val="070F1D"/>
          </a:solidFill>
          <a:ln>
            <a:solidFill>
              <a:srgbClr val="2A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45643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ECF8E"/>
                </a:solidFill>
                <a:latin typeface="Aptos Mono"/>
              </a:rPr>
              <a:t>&gt;&gt;&gt;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401568"/>
            <a:ext cx="4572000" cy="14773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800" b="0" dirty="0">
                <a:solidFill>
                  <a:srgbClr val="F8FAFC"/>
                </a:solidFill>
                <a:latin typeface="Aptos Mono"/>
              </a:rPr>
              <a:t>import pandas as pd</a:t>
            </a:r>
            <a:br>
              <a:rPr dirty="0"/>
            </a:br>
            <a:r>
              <a:rPr sz="1800" b="0" dirty="0">
                <a:solidFill>
                  <a:srgbClr val="F8FAFC"/>
                </a:solidFill>
                <a:latin typeface="Aptos Mono"/>
              </a:rPr>
              <a:t>import </a:t>
            </a:r>
            <a:r>
              <a:rPr sz="1800" b="0" err="1">
                <a:solidFill>
                  <a:srgbClr val="F8FAFC"/>
                </a:solidFill>
                <a:latin typeface="Aptos Mono"/>
              </a:rPr>
              <a:t>numpy</a:t>
            </a:r>
            <a:r>
              <a:rPr sz="1800" b="0" dirty="0">
                <a:solidFill>
                  <a:srgbClr val="F8FAFC"/>
                </a:solidFill>
                <a:latin typeface="Aptos Mono"/>
              </a:rPr>
              <a:t> as np</a:t>
            </a:r>
            <a:br>
              <a:rPr dirty="0"/>
            </a:br>
            <a:r>
              <a:rPr sz="1800" b="0" dirty="0">
                <a:solidFill>
                  <a:srgbClr val="F8FAFC"/>
                </a:solidFill>
                <a:latin typeface="Aptos Mono"/>
              </a:rPr>
              <a:t>from </a:t>
            </a:r>
            <a:r>
              <a:rPr sz="1800" b="0" err="1">
                <a:solidFill>
                  <a:srgbClr val="F8FAFC"/>
                </a:solidFill>
                <a:latin typeface="Aptos Mono"/>
              </a:rPr>
              <a:t>scipy</a:t>
            </a:r>
            <a:r>
              <a:rPr sz="1800" b="0" dirty="0">
                <a:solidFill>
                  <a:srgbClr val="F8FAFC"/>
                </a:solidFill>
                <a:latin typeface="Aptos Mono"/>
              </a:rPr>
              <a:t> import stats</a:t>
            </a:r>
            <a:br>
              <a:rPr dirty="0"/>
            </a:br>
            <a:r>
              <a:rPr sz="1800" b="0" dirty="0">
                <a:solidFill>
                  <a:srgbClr val="F8FAFC"/>
                </a:solidFill>
                <a:latin typeface="Aptos Mono"/>
              </a:rPr>
              <a:t>import </a:t>
            </a:r>
            <a:r>
              <a:rPr sz="1800" b="0" err="1">
                <a:solidFill>
                  <a:srgbClr val="F8FAFC"/>
                </a:solidFill>
                <a:latin typeface="Aptos Mono"/>
              </a:rPr>
              <a:t>statsmodels</a:t>
            </a:r>
            <a:endParaRPr lang="en-US" sz="1800" b="0" dirty="0" err="1">
              <a:solidFill>
                <a:srgbClr val="F8FAFC"/>
              </a:solidFill>
              <a:latin typeface="Aptos Mono"/>
            </a:endParaRPr>
          </a:p>
          <a:p>
            <a:r>
              <a:rPr lang="en-US">
                <a:solidFill>
                  <a:srgbClr val="F8FAFC"/>
                </a:solidFill>
                <a:latin typeface="Aptos Mono"/>
              </a:rPr>
              <a:t>…..</a:t>
            </a:r>
            <a:endParaRPr lang="en-US" dirty="0">
              <a:solidFill>
                <a:srgbClr val="F8FAFC"/>
              </a:solidFill>
              <a:latin typeface="Aptos Mon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06440" y="3703320"/>
            <a:ext cx="5120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0BCD4"/>
                </a:solidFill>
                <a:latin typeface="Aptos"/>
              </a:rPr>
              <a:t>IMPORT  →  INSPECT  →  SUMMARIZE  →  VISUALIZE  → 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4645267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BCCADA"/>
                </a:solidFill>
                <a:latin typeface="Aptos"/>
              </a:rPr>
              <a:t>Educational data • Reproducible analysis • Active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WORKSHOP FACILITATION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Presenter 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00784"/>
            <a:ext cx="5303520" cy="352044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865376"/>
            <a:ext cx="49011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PRIMARY FACILITATOR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67712"/>
            <a:ext cx="4901183" cy="2807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Graduate student in Instructional Technology pursuing an M.S.Ed specializing in Assistive Technologies, alongside a Certificate of Graduate Study in Advanced Quantitative Methodology at Northern Illinois University.</a:t>
            </a:r>
            <a:br/>
            <a:br/>
            <a:r>
              <a:rPr sz="1500" b="0">
                <a:solidFill>
                  <a:srgbClr val="F8FAFC"/>
                </a:solidFill>
                <a:latin typeface="Aptos"/>
              </a:rPr>
              <a:t>Experience includes Python for data science and hands-on design/presentation of Python-focused educational workshops for student participants and field professionals.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700784"/>
            <a:ext cx="5166360" cy="352044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1865376"/>
            <a:ext cx="47640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ACADEMIC TRAJECTORY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267712"/>
            <a:ext cx="4764024" cy="2807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The facilitator plans to continue toward a Ph.D. and brings together instructional technology, quantitative methodology, data science, and teaching practice.</a:t>
            </a:r>
            <a:br/>
            <a:br/>
            <a:r>
              <a:rPr sz="1500" b="0">
                <a:solidFill>
                  <a:srgbClr val="F8FAFC"/>
                </a:solidFill>
                <a:latin typeface="Aptos"/>
              </a:rPr>
              <a:t>This workshop is structured to make technical content approachable for beginner-friendly research audiences.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HANDS-ON PARTICIPATION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Anticipated Audience &amp; Involvement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19072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Designed for applied researchers—students or faculty, at any level—who want to use Python to understand data in interesting ways.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697480"/>
            <a:ext cx="3429000" cy="1874519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862072"/>
            <a:ext cx="3026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BRING A LAPTOP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264408"/>
            <a:ext cx="3026664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Participants are encouraged to run Python syntax during the workshop rather than only watch demonstrations.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2697480"/>
            <a:ext cx="3429000" cy="1874519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81144" y="2862072"/>
            <a:ext cx="3026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FOLLOW ALONG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3264408"/>
            <a:ext cx="3026664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500" b="0" dirty="0">
                <a:solidFill>
                  <a:srgbClr val="F8FAFC"/>
                </a:solidFill>
                <a:latin typeface="Aptos"/>
              </a:rPr>
              <a:t>Handouts provide instructions for </a:t>
            </a:r>
            <a:r>
              <a:rPr lang="en-US" sz="1500" dirty="0">
                <a:solidFill>
                  <a:srgbClr val="F8FAFC"/>
                </a:solidFill>
                <a:latin typeface="Aptos"/>
              </a:rPr>
              <a:t>some of the basics of Python </a:t>
            </a:r>
            <a:r>
              <a:rPr lang="en-US" sz="1500">
                <a:solidFill>
                  <a:srgbClr val="F8FAFC"/>
                </a:solidFill>
                <a:latin typeface="Aptos"/>
              </a:rPr>
              <a:t>used to follow along </a:t>
            </a:r>
            <a:r>
              <a:rPr sz="1500" b="0" dirty="0">
                <a:solidFill>
                  <a:srgbClr val="F8FAFC"/>
                </a:solidFill>
                <a:latin typeface="Aptos"/>
              </a:rPr>
              <a:t> as the workshop progresses.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2697480"/>
            <a:ext cx="3429000" cy="1874519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2" y="2862072"/>
            <a:ext cx="3026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ECF8E"/>
                </a:solidFill>
                <a:latin typeface="Aptos"/>
              </a:rPr>
              <a:t>ASK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264408"/>
            <a:ext cx="3026664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Dedicated time at the end supports questions about Python, analysis workflows, and next steps.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21208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0BCD4"/>
                </a:solidFill>
                <a:latin typeface="Aptos"/>
              </a:rPr>
              <a:t>No previous knowledge of Python or Google Colab is assumed.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PURPOSE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Workshop Abstract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64208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B400"/>
                </a:solidFill>
                <a:latin typeface="Aptos"/>
              </a:rPr>
              <a:t>Python as an expressive research toolkit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500" y="2286114"/>
            <a:ext cx="5394960" cy="27340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Python is a powerful, versatile language valued for readability, conciseness, interactivity, and statistical/data-science workflows.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/>
              <a:t>•  The workshop uses Google </a:t>
            </a:r>
            <a:r>
              <a:rPr lang="en-US"/>
              <a:t>Collab</a:t>
            </a:r>
            <a:r>
              <a:rPr dirty="0"/>
              <a:t> to practice descriptive statistics, inferential tests, numerical operations, visualization, machine learning, and simple linear regression.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rPr dirty="0"/>
              <a:t>•  Participants work with Pyreadstat, Pandas, NumPy, Matplotlib, SciPy, and Statsmodels, with no prior Python or </a:t>
            </a:r>
            <a:r>
              <a:rPr lang="en-US" dirty="0"/>
              <a:t>Collab</a:t>
            </a:r>
            <a:r>
              <a:rPr dirty="0"/>
              <a:t> experience assumed.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64208"/>
            <a:ext cx="5166360" cy="1874519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1828800"/>
            <a:ext cx="47640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WHY COLAB?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231136"/>
            <a:ext cx="4764024" cy="12464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500" b="0" dirty="0">
                <a:solidFill>
                  <a:srgbClr val="F8FAFC"/>
                </a:solidFill>
                <a:latin typeface="Aptos"/>
              </a:rPr>
              <a:t>When you run code in a </a:t>
            </a:r>
            <a:r>
              <a:rPr lang="en-US" sz="1500">
                <a:solidFill>
                  <a:srgbClr val="F8FAFC"/>
                </a:solidFill>
                <a:latin typeface="Aptos"/>
              </a:rPr>
              <a:t>Collab</a:t>
            </a:r>
            <a:r>
              <a:rPr sz="1500" b="0" dirty="0">
                <a:solidFill>
                  <a:srgbClr val="F8FAFC"/>
                </a:solidFill>
                <a:latin typeface="Aptos"/>
              </a:rPr>
              <a:t> notebook, execution happens on virtual machines managed by Google Cloud rather than on your local computer. This shifts intensive computation to Google-managed servers and reduces demands on the participant’s machine.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730752"/>
            <a:ext cx="5166360" cy="1572768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3895344"/>
            <a:ext cx="47640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BEFORE THE WORKSHOP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4297680"/>
            <a:ext cx="4764024" cy="7848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500" b="0" dirty="0">
                <a:solidFill>
                  <a:srgbClr val="F8FAFC"/>
                </a:solidFill>
                <a:latin typeface="Aptos"/>
              </a:rPr>
              <a:t>Python may be installed from python.org for Windows, Mac, or Linux, but </a:t>
            </a:r>
            <a:r>
              <a:rPr lang="en-US" sz="1500">
                <a:solidFill>
                  <a:srgbClr val="F8FAFC"/>
                </a:solidFill>
                <a:latin typeface="Aptos"/>
              </a:rPr>
              <a:t>Collab</a:t>
            </a:r>
            <a:r>
              <a:rPr sz="1500" b="0" dirty="0">
                <a:solidFill>
                  <a:srgbClr val="F8FAFC"/>
                </a:solidFill>
                <a:latin typeface="Aptos"/>
              </a:rPr>
              <a:t> itself requires no local installation.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IMPORTANCE OF THE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Why This Topic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236" y="1715161"/>
            <a:ext cx="3472132" cy="2138488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865376"/>
            <a:ext cx="3026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DATA-DRIVEN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67712"/>
            <a:ext cx="3026664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Educational research increasingly relies on statistical analysis, visualization, reproducibility, and machine learning. Python provides one accessible, scalable language across these tasks.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715161"/>
            <a:ext cx="3429000" cy="2138488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865376"/>
            <a:ext cx="3026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LOWER THE BARRIER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67712"/>
            <a:ext cx="3026664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Graduate students and researchers may have limited formal programming experience. A browser-based notebook reduces setup friction and supports active learning.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715161"/>
            <a:ext cx="3472132" cy="2138488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1865376"/>
            <a:ext cx="3026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ECF8E"/>
                </a:solidFill>
                <a:latin typeface="Aptos"/>
              </a:rPr>
              <a:t>BUILD CAPABILITY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267712"/>
            <a:ext cx="3026664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Python can strengthen computational thinking and problem-solving while supporting research across computer science, social science, evaluation, and education.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09651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Workshop emphasis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498848"/>
            <a:ext cx="10607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Explore student-success data.</a:t>
            </a:r>
          </a:p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Connect syntax to meaningful statistical interpretation.</a:t>
            </a:r>
          </a:p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Build confidence with real data, models, and visualizations.</a:t>
            </a:r>
          </a:p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Encourage continued use of Python in participants’ own research.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WHAT PARTICIPANTS WILL BE ABLE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Objectives, Goals &amp; Purposes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096" y="1709651"/>
            <a:ext cx="3618806" cy="1526771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901952"/>
            <a:ext cx="2980944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600" b="1">
                <a:solidFill>
                  <a:srgbClr val="00BCD4"/>
                </a:solidFill>
                <a:latin typeface="Aptos"/>
              </a:rPr>
              <a:t>1  </a:t>
            </a:r>
            <a:r>
              <a:rPr lang="en-US" sz="1600" b="1">
                <a:solidFill>
                  <a:srgbClr val="00BCD4"/>
                </a:solidFill>
                <a:latin typeface="Aptos"/>
              </a:rPr>
              <a:t>IMPORTING FROM VARIOUS FILE FORMATS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422966"/>
            <a:ext cx="3507416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0" dirty="0">
                <a:solidFill>
                  <a:srgbClr val="F8FAFC"/>
                </a:solidFill>
                <a:latin typeface="Aptos"/>
              </a:rPr>
              <a:t>Load CSV</a:t>
            </a:r>
            <a:r>
              <a:rPr lang="en-US" sz="1400" dirty="0">
                <a:solidFill>
                  <a:srgbClr val="F8FAFC"/>
                </a:solidFill>
                <a:latin typeface="Aptos"/>
              </a:rPr>
              <a:t> </a:t>
            </a:r>
            <a:r>
              <a:rPr sz="1400" b="0" dirty="0">
                <a:solidFill>
                  <a:srgbClr val="F8FAFC"/>
                </a:solidFill>
                <a:latin typeface="Aptos"/>
              </a:rPr>
              <a:t>files into a </a:t>
            </a:r>
            <a:r>
              <a:rPr lang="en-US" sz="1400" dirty="0">
                <a:solidFill>
                  <a:srgbClr val="F8FAFC"/>
                </a:solidFill>
                <a:latin typeface="Aptos"/>
              </a:rPr>
              <a:t>Collab</a:t>
            </a:r>
            <a:r>
              <a:rPr sz="1400" b="0" dirty="0">
                <a:solidFill>
                  <a:srgbClr val="F8FAFC"/>
                </a:solidFill>
                <a:latin typeface="Aptos"/>
              </a:rPr>
              <a:t> </a:t>
            </a:r>
            <a:r>
              <a:rPr sz="1400" b="0">
                <a:solidFill>
                  <a:srgbClr val="F8FAFC"/>
                </a:solidFill>
                <a:latin typeface="Aptos"/>
              </a:rPr>
              <a:t>workflow</a:t>
            </a:r>
            <a:r>
              <a:rPr lang="en-US" sz="1400">
                <a:solidFill>
                  <a:srgbClr val="F8FAFC"/>
                </a:solidFill>
                <a:latin typeface="Aptos"/>
              </a:rPr>
              <a:t> &amp;</a:t>
            </a:r>
            <a:r>
              <a:rPr lang="en-US" sz="1200" dirty="0">
                <a:solidFill>
                  <a:srgbClr val="F8FAFC"/>
                </a:solidFill>
                <a:ea typeface="+mn-lt"/>
                <a:cs typeface="+mn-lt"/>
              </a:rPr>
              <a:t> </a:t>
            </a:r>
            <a:r>
              <a:rPr lang="en-US" sz="1400" dirty="0">
                <a:solidFill>
                  <a:srgbClr val="F8FAFC"/>
                </a:solidFill>
                <a:latin typeface="Aptos"/>
                <a:ea typeface="+mn-lt"/>
                <a:cs typeface="+mn-lt"/>
              </a:rPr>
              <a:t>convert a comma-separated values (.csv) file into an SPSS (.sav) file</a:t>
            </a:r>
            <a:r>
              <a:rPr lang="en-US" sz="1200" dirty="0">
                <a:solidFill>
                  <a:srgbClr val="F8FAFC"/>
                </a:solidFill>
                <a:latin typeface="Aptos"/>
                <a:ea typeface="+mn-lt"/>
                <a:cs typeface="+mn-lt"/>
              </a:rPr>
              <a:t> </a:t>
            </a:r>
            <a:endParaRPr lang="en-US" sz="1400" b="0" dirty="0">
              <a:solidFill>
                <a:srgbClr val="F8FAFC"/>
              </a:solidFill>
              <a:latin typeface="Aptos"/>
              <a:ea typeface="Calibri"/>
              <a:cs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61688" y="1695797"/>
            <a:ext cx="3383280" cy="1540625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2855" y="1901952"/>
            <a:ext cx="3182227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600" b="1">
                <a:solidFill>
                  <a:srgbClr val="F4B400"/>
                </a:solidFill>
                <a:latin typeface="Aptos"/>
              </a:rPr>
              <a:t>2  INSPECT / </a:t>
            </a:r>
            <a:r>
              <a:rPr lang="en-US" sz="1600" b="1">
                <a:solidFill>
                  <a:srgbClr val="F4B400"/>
                </a:solidFill>
                <a:latin typeface="Aptos"/>
              </a:rPr>
              <a:t>EXPLORE / CLEAN</a:t>
            </a:r>
            <a:endParaRPr sz="1600" b="1">
              <a:solidFill>
                <a:srgbClr val="F4B400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62855" y="2373561"/>
            <a:ext cx="2980944" cy="8412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Identify structure, metadata, missing values, duplicates, errors, and inconsistent formats.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71045" y="1695796"/>
            <a:ext cx="3383280" cy="155448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72212" y="1901952"/>
            <a:ext cx="2980944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600" b="1">
                <a:solidFill>
                  <a:srgbClr val="3ECF8E"/>
                </a:solidFill>
                <a:latin typeface="Aptos"/>
              </a:rPr>
              <a:t>3  SUMMARIZE</a:t>
            </a:r>
            <a:r>
              <a:rPr lang="en-US" sz="1600" b="1">
                <a:solidFill>
                  <a:srgbClr val="3ECF8E"/>
                </a:solidFill>
                <a:latin typeface="Aptos"/>
              </a:rPr>
              <a:t> OUR DATA</a:t>
            </a:r>
            <a:endParaRPr sz="1600" b="1">
              <a:solidFill>
                <a:srgbClr val="3ECF8E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72212" y="2248870"/>
            <a:ext cx="2980944" cy="8412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Use Pandas to condense larger datasets into interpretable statistics and grouped results.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611879"/>
            <a:ext cx="3383280" cy="155448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3776472"/>
            <a:ext cx="2980944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600" b="1">
                <a:solidFill>
                  <a:srgbClr val="00BCD4"/>
                </a:solidFill>
                <a:latin typeface="Aptos"/>
              </a:rPr>
              <a:t>4  VISUALIZE</a:t>
            </a:r>
            <a:r>
              <a:rPr lang="en-US" sz="1600" b="1">
                <a:solidFill>
                  <a:srgbClr val="00BCD4"/>
                </a:solidFill>
                <a:latin typeface="Aptos"/>
              </a:rPr>
              <a:t> OUR DATA</a:t>
            </a:r>
            <a:endParaRPr sz="1600" b="1">
              <a:solidFill>
                <a:srgbClr val="00BCD4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9536" y="4178807"/>
            <a:ext cx="2980944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0">
                <a:solidFill>
                  <a:srgbClr val="F8FAFC"/>
                </a:solidFill>
                <a:latin typeface="Aptos"/>
              </a:rPr>
              <a:t>Use NumPy, Matplotlib, and </a:t>
            </a:r>
            <a:r>
              <a:rPr lang="en-US" sz="1400">
                <a:solidFill>
                  <a:srgbClr val="F8FAFC"/>
                </a:solidFill>
                <a:latin typeface="Aptos"/>
              </a:rPr>
              <a:t>SciPy </a:t>
            </a:r>
            <a:r>
              <a:rPr sz="1400" b="0">
                <a:solidFill>
                  <a:srgbClr val="F8FAFC"/>
                </a:solidFill>
                <a:latin typeface="Aptos"/>
              </a:rPr>
              <a:t>to explore and </a:t>
            </a:r>
            <a:r>
              <a:rPr sz="1400" b="0" dirty="0">
                <a:solidFill>
                  <a:srgbClr val="F8FAFC"/>
                </a:solidFill>
                <a:latin typeface="Aptos"/>
              </a:rPr>
              <a:t>communicate patterns.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9288" y="3611879"/>
            <a:ext cx="3383280" cy="155448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52019" y="3776472"/>
            <a:ext cx="3412264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600" b="1">
                <a:solidFill>
                  <a:srgbClr val="F4B400"/>
                </a:solidFill>
                <a:latin typeface="Aptos"/>
              </a:rPr>
              <a:t>5 </a:t>
            </a:r>
            <a:r>
              <a:rPr lang="en-US" sz="1600" b="1">
                <a:solidFill>
                  <a:srgbClr val="F4B400"/>
                </a:solidFill>
                <a:latin typeface="Aptos"/>
              </a:rPr>
              <a:t>MACHINE LEARNING  MODEL</a:t>
            </a:r>
            <a:endParaRPr sz="1600" b="1">
              <a:solidFill>
                <a:srgbClr val="F4B400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52019" y="4275789"/>
            <a:ext cx="2980944" cy="8412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Run statistical tests and a simple linear regression example; connect visualization to modeling.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6961" y="5532120"/>
            <a:ext cx="6766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BCCADA"/>
                </a:solidFill>
                <a:latin typeface="Aptos"/>
              </a:rPr>
              <a:t>Handouts support each activity • The session concludes with key takeaways and participant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FIVE-PART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Workshop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5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1874519"/>
            <a:ext cx="658368" cy="658368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203911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A1830"/>
                </a:solidFill>
                <a:latin typeface="Aptos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176272"/>
            <a:ext cx="1572768" cy="45720"/>
          </a:xfrm>
          <a:prstGeom prst="rect">
            <a:avLst/>
          </a:prstGeom>
          <a:solidFill>
            <a:srgbClr val="486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2788920"/>
            <a:ext cx="1600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Brief introduction to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3520440"/>
            <a:ext cx="160020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200" b="0" dirty="0">
                <a:solidFill>
                  <a:srgbClr val="BCCADA"/>
                </a:solidFill>
                <a:latin typeface="Aptos"/>
              </a:rPr>
              <a:t>Google </a:t>
            </a:r>
            <a:r>
              <a:rPr lang="en-US" sz="1200">
                <a:solidFill>
                  <a:srgbClr val="BCCADA"/>
                </a:solidFill>
                <a:latin typeface="Aptos"/>
              </a:rPr>
              <a:t>Collab</a:t>
            </a:r>
            <a:r>
              <a:rPr sz="1200" b="0" dirty="0">
                <a:solidFill>
                  <a:srgbClr val="BCCADA"/>
                </a:solidFill>
                <a:latin typeface="Aptos"/>
              </a:rPr>
              <a:t> + libraries</a:t>
            </a:r>
          </a:p>
        </p:txBody>
      </p:sp>
      <p:sp>
        <p:nvSpPr>
          <p:cNvPr id="14" name="Oval 13"/>
          <p:cNvSpPr/>
          <p:nvPr/>
        </p:nvSpPr>
        <p:spPr>
          <a:xfrm>
            <a:off x="2953512" y="1874519"/>
            <a:ext cx="658368" cy="658368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53512" y="203911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A1830"/>
                </a:solidFill>
                <a:latin typeface="Aptos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2176272"/>
            <a:ext cx="1572768" cy="45720"/>
          </a:xfrm>
          <a:prstGeom prst="rect">
            <a:avLst/>
          </a:prstGeom>
          <a:solidFill>
            <a:srgbClr val="486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24912" y="2788920"/>
            <a:ext cx="1600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Inspect / Clean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3520440"/>
            <a:ext cx="1600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BCCADA"/>
                </a:solidFill>
                <a:latin typeface="Aptos"/>
              </a:rPr>
              <a:t>Pandas + NumPy</a:t>
            </a:r>
          </a:p>
        </p:txBody>
      </p:sp>
      <p:sp>
        <p:nvSpPr>
          <p:cNvPr id="19" name="Oval 18"/>
          <p:cNvSpPr/>
          <p:nvPr/>
        </p:nvSpPr>
        <p:spPr>
          <a:xfrm>
            <a:off x="5193792" y="1874519"/>
            <a:ext cx="658368" cy="658368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93792" y="203911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A1830"/>
                </a:solidFill>
                <a:latin typeface="Aptos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2176272"/>
            <a:ext cx="1572768" cy="45720"/>
          </a:xfrm>
          <a:prstGeom prst="rect">
            <a:avLst/>
          </a:prstGeom>
          <a:solidFill>
            <a:srgbClr val="486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65192" y="2788920"/>
            <a:ext cx="1600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Summarize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5192" y="3520440"/>
            <a:ext cx="160020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200" b="0" dirty="0">
                <a:solidFill>
                  <a:srgbClr val="BCCADA"/>
                </a:solidFill>
                <a:latin typeface="Aptos"/>
              </a:rPr>
              <a:t>Pandas functions</a:t>
            </a:r>
          </a:p>
        </p:txBody>
      </p:sp>
      <p:sp>
        <p:nvSpPr>
          <p:cNvPr id="24" name="Oval 23"/>
          <p:cNvSpPr/>
          <p:nvPr/>
        </p:nvSpPr>
        <p:spPr>
          <a:xfrm>
            <a:off x="7434072" y="1874519"/>
            <a:ext cx="658368" cy="658368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34072" y="203911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A1830"/>
                </a:solidFill>
                <a:latin typeface="Aptos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2176272"/>
            <a:ext cx="1572768" cy="45720"/>
          </a:xfrm>
          <a:prstGeom prst="rect">
            <a:avLst/>
          </a:prstGeom>
          <a:solidFill>
            <a:srgbClr val="486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05472" y="2788920"/>
            <a:ext cx="1600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Data Visualization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5472" y="3520440"/>
            <a:ext cx="160020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200" b="0">
                <a:solidFill>
                  <a:srgbClr val="BCCADA"/>
                </a:solidFill>
                <a:latin typeface="Aptos"/>
              </a:rPr>
              <a:t>NumPy + Matplotlib </a:t>
            </a:r>
            <a:r>
              <a:rPr lang="en-US" sz="1200">
                <a:solidFill>
                  <a:srgbClr val="BCCADA"/>
                </a:solidFill>
                <a:latin typeface="Aptos"/>
              </a:rPr>
              <a:t> </a:t>
            </a:r>
            <a:endParaRPr lang="en-US" sz="1200" b="0">
              <a:solidFill>
                <a:srgbClr val="BCCADA"/>
              </a:solidFill>
              <a:latin typeface="Aptos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9674352" y="1874519"/>
            <a:ext cx="658368" cy="658368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74352" y="203911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A1830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2788920"/>
            <a:ext cx="1600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Simple Linear Regression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45752" y="3520440"/>
            <a:ext cx="1600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BCCADA"/>
                </a:solidFill>
                <a:latin typeface="Aptos"/>
              </a:rPr>
              <a:t>SciPy + model visualization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74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4B400"/>
                </a:solidFill>
                <a:latin typeface="Aptos"/>
              </a:rPr>
              <a:t>The workshop moves from access and file handling to interpretation, visualization, and modeling.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860339-11D9-A842-2FBC-2E212A2C0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D252D6-EDA0-92F5-FBDD-5F5C15FB3819}"/>
              </a:ext>
            </a:extLst>
          </p:cNvPr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8B0EC0-E853-4E7C-6151-C56067B5125A}"/>
              </a:ext>
            </a:extLst>
          </p:cNvPr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13C53-AADB-20F2-BDFE-8F1B82060D60}"/>
              </a:ext>
            </a:extLst>
          </p:cNvPr>
          <p:cNvSpPr txBox="1"/>
          <p:nvPr/>
        </p:nvSpPr>
        <p:spPr>
          <a:xfrm>
            <a:off x="594360" y="368405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WRAP-UP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158D89-C5D4-6897-ADA8-5BCE64003C64}"/>
              </a:ext>
            </a:extLst>
          </p:cNvPr>
          <p:cNvSpPr txBox="1"/>
          <p:nvPr/>
        </p:nvSpPr>
        <p:spPr>
          <a:xfrm>
            <a:off x="608736" y="528972"/>
            <a:ext cx="10972800" cy="16004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dirty="0"/>
              <a:t>https://tinyurl.com/student-success-dataset</a:t>
            </a:r>
          </a:p>
          <a:p>
            <a:endParaRPr lang="en-US" sz="2000" b="1" dirty="0">
              <a:solidFill>
                <a:srgbClr val="F4B400"/>
              </a:solidFill>
              <a:latin typeface="Aptos"/>
            </a:endParaRPr>
          </a:p>
          <a:p>
            <a:pPr marL="457200" indent="-457200">
              <a:buAutoNum type="arabicPeriod"/>
            </a:pPr>
            <a:r>
              <a:rPr lang="en-US" sz="2000">
                <a:solidFill>
                  <a:srgbClr val="F8FAFC"/>
                </a:solidFill>
                <a:latin typeface="Aptos"/>
              </a:rPr>
              <a:t>Enter the URL into your browser address bar.</a:t>
            </a:r>
            <a:endParaRPr lang="en-US">
              <a:ea typeface="Calibri"/>
              <a:cs typeface="Calibri"/>
            </a:endParaRPr>
          </a:p>
          <a:p>
            <a:r>
              <a:rPr lang="en-US" sz="2000">
                <a:solidFill>
                  <a:srgbClr val="F8FAFC"/>
                </a:solidFill>
                <a:latin typeface="Aptos"/>
              </a:rPr>
              <a:t>2. Download the .SAV file.</a:t>
            </a:r>
          </a:p>
          <a:p>
            <a:r>
              <a:rPr lang="en-US" sz="2000" dirty="0">
                <a:solidFill>
                  <a:srgbClr val="F8FAFC"/>
                </a:solidFill>
                <a:latin typeface="Aptos"/>
              </a:rPr>
              <a:t>3. Upload &amp; Open this file in your Colab Notebook.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920D36-F899-9CD0-0FE3-4BFC32DADADA}"/>
              </a:ext>
            </a:extLst>
          </p:cNvPr>
          <p:cNvSpPr/>
          <p:nvPr/>
        </p:nvSpPr>
        <p:spPr>
          <a:xfrm>
            <a:off x="594360" y="2295661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5382B7-1F86-C49F-11F6-234E3E904D85}"/>
              </a:ext>
            </a:extLst>
          </p:cNvPr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03F026-5848-913A-9BDF-AFB278089D5A}"/>
              </a:ext>
            </a:extLst>
          </p:cNvPr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24</a:t>
            </a:r>
          </a:p>
        </p:txBody>
      </p:sp>
      <p:pic>
        <p:nvPicPr>
          <p:cNvPr id="14" name="Picture 13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DBD95AB3-2B0B-74FA-2899-872717EB3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282" y="2777226"/>
            <a:ext cx="8755812" cy="291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07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26A6FA-1865-F1C5-6AB6-3DDC0C868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74E73A-B499-CADD-77F9-406464F1C9CF}"/>
              </a:ext>
            </a:extLst>
          </p:cNvPr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8ABABC-E5EB-88BF-1D59-5E9206E15082}"/>
              </a:ext>
            </a:extLst>
          </p:cNvPr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5AF59B-0A95-FC6F-DB51-A15972611A29}"/>
              </a:ext>
            </a:extLst>
          </p:cNvPr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1 • SETUP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298DD7-3854-735E-B665-CF9792C9D77F}"/>
              </a:ext>
            </a:extLst>
          </p:cNvPr>
          <p:cNvSpPr txBox="1"/>
          <p:nvPr/>
        </p:nvSpPr>
        <p:spPr>
          <a:xfrm>
            <a:off x="594360" y="658368"/>
            <a:ext cx="109728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 dirty="0">
                <a:solidFill>
                  <a:srgbClr val="F8FAFC"/>
                </a:solidFill>
                <a:latin typeface="Aptos"/>
              </a:rPr>
              <a:t>Google </a:t>
            </a:r>
            <a:r>
              <a:rPr lang="en-US" sz="2800" b="1">
                <a:solidFill>
                  <a:srgbClr val="F8FAFC"/>
                </a:solidFill>
                <a:latin typeface="Aptos"/>
              </a:rPr>
              <a:t>Collab</a:t>
            </a:r>
            <a:r>
              <a:rPr sz="2800" b="1" dirty="0">
                <a:solidFill>
                  <a:srgbClr val="F8FAFC"/>
                </a:solidFill>
                <a:latin typeface="Aptos"/>
              </a:rPr>
              <a:t>: </a:t>
            </a:r>
            <a:r>
              <a:rPr lang="en-US" sz="2800" b="1" dirty="0">
                <a:solidFill>
                  <a:srgbClr val="F8FAFC"/>
                </a:solidFill>
                <a:latin typeface="Aptos"/>
              </a:rPr>
              <a:t>Your Cloud-Based Workspace</a:t>
            </a:r>
            <a:endParaRPr sz="28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497F87-8D55-9D00-07A5-FA54C7173715}"/>
              </a:ext>
            </a:extLst>
          </p:cNvPr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2086B2-CDC3-E784-B1CA-E7D269B2F608}"/>
              </a:ext>
            </a:extLst>
          </p:cNvPr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D1F937-77C5-21EB-F55C-13FBD70BAF5C}"/>
              </a:ext>
            </a:extLst>
          </p:cNvPr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6</a:t>
            </a:r>
          </a:p>
        </p:txBody>
      </p:sp>
      <p:pic>
        <p:nvPicPr>
          <p:cNvPr id="9" name="Picture 8" descr="page002_img001.png">
            <a:extLst>
              <a:ext uri="{FF2B5EF4-FFF2-40B4-BE49-F238E27FC236}">
                <a16:creationId xmlns:a16="http://schemas.microsoft.com/office/drawing/2014/main" id="{4E60D72D-C108-6029-568B-C00680156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83658"/>
            <a:ext cx="6629400" cy="38107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D1DDEF-2410-90E3-C019-5C32703954F6}"/>
              </a:ext>
            </a:extLst>
          </p:cNvPr>
          <p:cNvSpPr txBox="1"/>
          <p:nvPr/>
        </p:nvSpPr>
        <p:spPr>
          <a:xfrm>
            <a:off x="658368" y="5559552"/>
            <a:ext cx="667512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dirty="0">
                <a:solidFill>
                  <a:srgbClr val="BCCADA"/>
                </a:solidFill>
                <a:latin typeface="Aptos"/>
              </a:rPr>
              <a:t>Figure 1. Interactive Google </a:t>
            </a:r>
            <a:r>
              <a:rPr lang="en-US" sz="1000">
                <a:solidFill>
                  <a:srgbClr val="BCCADA"/>
                </a:solidFill>
                <a:latin typeface="Aptos"/>
              </a:rPr>
              <a:t>Collab</a:t>
            </a:r>
            <a:r>
              <a:rPr sz="1000" b="0" dirty="0">
                <a:solidFill>
                  <a:srgbClr val="BCCADA"/>
                </a:solidFill>
                <a:latin typeface="Aptos"/>
              </a:rPr>
              <a:t> environment (colab.research.google.com)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AAA9B05-18B4-76A3-9874-F1FAA78DA75A}"/>
              </a:ext>
            </a:extLst>
          </p:cNvPr>
          <p:cNvSpPr/>
          <p:nvPr/>
        </p:nvSpPr>
        <p:spPr>
          <a:xfrm>
            <a:off x="7571231" y="1645920"/>
            <a:ext cx="3886200" cy="141732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6EACD7-6121-A039-9602-97539DF910D7}"/>
              </a:ext>
            </a:extLst>
          </p:cNvPr>
          <p:cNvSpPr txBox="1"/>
          <p:nvPr/>
        </p:nvSpPr>
        <p:spPr>
          <a:xfrm>
            <a:off x="7772400" y="1896776"/>
            <a:ext cx="34838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BROWSER-BASED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B4F039-0477-60EA-6929-96C52F31334D}"/>
              </a:ext>
            </a:extLst>
          </p:cNvPr>
          <p:cNvSpPr txBox="1"/>
          <p:nvPr/>
        </p:nvSpPr>
        <p:spPr>
          <a:xfrm>
            <a:off x="7772400" y="2212848"/>
            <a:ext cx="3483864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Write, run, and share Python code without a time-consuming local environment setup.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D6D446D-7267-7BB5-D1A6-E8559DCF7469}"/>
              </a:ext>
            </a:extLst>
          </p:cNvPr>
          <p:cNvSpPr/>
          <p:nvPr/>
        </p:nvSpPr>
        <p:spPr>
          <a:xfrm>
            <a:off x="7571231" y="3273552"/>
            <a:ext cx="3871823" cy="1446074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746D21-5080-8C25-6A4F-1C4020D2257F}"/>
              </a:ext>
            </a:extLst>
          </p:cNvPr>
          <p:cNvSpPr txBox="1"/>
          <p:nvPr/>
        </p:nvSpPr>
        <p:spPr>
          <a:xfrm>
            <a:off x="7772400" y="3438144"/>
            <a:ext cx="34838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CLOUD EXECUTION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24A9CE-8E74-45A6-8E7A-A669617AC3BB}"/>
              </a:ext>
            </a:extLst>
          </p:cNvPr>
          <p:cNvSpPr txBox="1"/>
          <p:nvPr/>
        </p:nvSpPr>
        <p:spPr>
          <a:xfrm>
            <a:off x="7772400" y="3754216"/>
            <a:ext cx="3483864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Notebook code executes on Google-managed cloud virtual machines, freeing the local computer from much of the computational workload.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915A40B-81D9-9983-8927-7C4033FBE7DB}"/>
              </a:ext>
            </a:extLst>
          </p:cNvPr>
          <p:cNvSpPr/>
          <p:nvPr/>
        </p:nvSpPr>
        <p:spPr>
          <a:xfrm>
            <a:off x="7571231" y="4901184"/>
            <a:ext cx="3886200" cy="749808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7799C3-43AA-6AF6-8DCD-2BEC8B8D4CA8}"/>
              </a:ext>
            </a:extLst>
          </p:cNvPr>
          <p:cNvSpPr txBox="1"/>
          <p:nvPr/>
        </p:nvSpPr>
        <p:spPr>
          <a:xfrm>
            <a:off x="7772400" y="4950757"/>
            <a:ext cx="34838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ECF8E"/>
                </a:solidFill>
                <a:latin typeface="Aptos"/>
              </a:rPr>
              <a:t>ACCESS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C592F4-ECE2-3DD0-F48B-0AA787314042}"/>
              </a:ext>
            </a:extLst>
          </p:cNvPr>
          <p:cNvSpPr txBox="1"/>
          <p:nvPr/>
        </p:nvSpPr>
        <p:spPr>
          <a:xfrm>
            <a:off x="7772400" y="5281206"/>
            <a:ext cx="348386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0" dirty="0">
                <a:solidFill>
                  <a:srgbClr val="F8FAFC"/>
                </a:solidFill>
                <a:latin typeface="Aptos"/>
              </a:rPr>
              <a:t>No </a:t>
            </a:r>
            <a:r>
              <a:rPr lang="en-US" sz="1400" dirty="0">
                <a:solidFill>
                  <a:srgbClr val="F8FAFC"/>
                </a:solidFill>
                <a:latin typeface="Aptos"/>
              </a:rPr>
              <a:t>Collab</a:t>
            </a:r>
            <a:r>
              <a:rPr sz="1400" b="0" dirty="0">
                <a:solidFill>
                  <a:srgbClr val="F8FAFC"/>
                </a:solidFill>
                <a:latin typeface="Aptos"/>
              </a:rPr>
              <a:t> </a:t>
            </a:r>
            <a:r>
              <a:rPr lang="en-US" sz="1400">
                <a:solidFill>
                  <a:srgbClr val="F8FAFC"/>
                </a:solidFill>
                <a:latin typeface="Aptos"/>
              </a:rPr>
              <a:t>installation </a:t>
            </a:r>
            <a:r>
              <a:rPr sz="1400" b="0">
                <a:solidFill>
                  <a:srgbClr val="F8FAFC"/>
                </a:solidFill>
                <a:latin typeface="Aptos"/>
              </a:rPr>
              <a:t>required.</a:t>
            </a:r>
            <a:endParaRPr lang="en-US" sz="1400" b="0">
              <a:solidFill>
                <a:srgbClr val="F8FAFC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55771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1 •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 dirty="0">
                <a:solidFill>
                  <a:srgbClr val="F8FAFC"/>
                </a:solidFill>
                <a:latin typeface="Aptos"/>
              </a:rPr>
              <a:t>Colab's</a:t>
            </a:r>
            <a:r>
              <a:rPr lang="en-US" sz="2800" b="1">
                <a:solidFill>
                  <a:srgbClr val="F8FAFC"/>
                </a:solidFill>
                <a:latin typeface="Aptos"/>
              </a:rPr>
              <a:t> Temporary Runtime File System</a:t>
            </a: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859" y="5588306"/>
            <a:ext cx="670387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000" b="0" dirty="0">
                <a:solidFill>
                  <a:srgbClr val="BCCADA"/>
                </a:solidFill>
                <a:latin typeface="Aptos"/>
              </a:rPr>
              <a:t>Figure </a:t>
            </a:r>
            <a:r>
              <a:rPr lang="en-US" sz="1000" dirty="0">
                <a:solidFill>
                  <a:srgbClr val="BCCADA"/>
                </a:solidFill>
                <a:latin typeface="Aptos"/>
              </a:rPr>
              <a:t>2</a:t>
            </a:r>
            <a:r>
              <a:rPr sz="1000" b="0" dirty="0">
                <a:solidFill>
                  <a:srgbClr val="BCCADA"/>
                </a:solidFill>
                <a:latin typeface="Aptos"/>
              </a:rPr>
              <a:t>. </a:t>
            </a:r>
            <a:r>
              <a:rPr lang="en-US" sz="1000" dirty="0">
                <a:solidFill>
                  <a:srgbClr val="BCCADA"/>
                </a:solidFill>
                <a:latin typeface="Aptos"/>
              </a:rPr>
              <a:t>Files panel of Google </a:t>
            </a:r>
            <a:r>
              <a:rPr lang="en-US" sz="1000" dirty="0" err="1">
                <a:solidFill>
                  <a:srgbClr val="BCCADA"/>
                </a:solidFill>
                <a:latin typeface="Aptos"/>
              </a:rPr>
              <a:t>Colab</a:t>
            </a:r>
            <a:r>
              <a:rPr lang="en-US" sz="1000" dirty="0">
                <a:solidFill>
                  <a:srgbClr val="BCCADA"/>
                </a:solidFill>
                <a:latin typeface="Aptos"/>
              </a:rPr>
              <a:t> environment lets you upload files from your computer. </a:t>
            </a:r>
            <a:endParaRPr lang="en-US" sz="1000" b="0" dirty="0">
              <a:solidFill>
                <a:srgbClr val="BCCADA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571231" y="1645920"/>
            <a:ext cx="3886200" cy="141732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0" y="1709871"/>
            <a:ext cx="3483864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b="1">
                <a:solidFill>
                  <a:srgbClr val="00BCD4"/>
                </a:solidFill>
                <a:latin typeface="Aptos"/>
              </a:rPr>
              <a:t>COLAB FILES PANEL</a:t>
            </a:r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772400" y="2040320"/>
            <a:ext cx="3483864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dirty="0">
                <a:solidFill>
                  <a:srgbClr val="F8FAFC"/>
                </a:solidFill>
                <a:latin typeface="Aptos"/>
              </a:rPr>
              <a:t>Temporary workspace for our notebook.  When we upload the SPSS .sav dataset, it becomes available to Python </a:t>
            </a:r>
            <a:r>
              <a:rPr lang="en-US" sz="1400">
                <a:solidFill>
                  <a:srgbClr val="F8FAFC"/>
                </a:solidFill>
                <a:latin typeface="Aptos"/>
              </a:rPr>
              <a:t>within the current Colan runtime.</a:t>
            </a:r>
            <a:endParaRPr lang="en-US" sz="1400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571231" y="3273552"/>
            <a:ext cx="3871823" cy="1446074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3438144"/>
            <a:ext cx="3483864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b="1">
                <a:solidFill>
                  <a:srgbClr val="F4B400"/>
                </a:solidFill>
                <a:latin typeface="Aptos"/>
              </a:rPr>
              <a:t>TEMPORARY CLOUD VM</a:t>
            </a:r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772400" y="3754216"/>
            <a:ext cx="3483864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dirty="0">
                <a:solidFill>
                  <a:srgbClr val="F8FAFC"/>
                </a:solidFill>
                <a:latin typeface="Aptos"/>
              </a:rPr>
              <a:t>Uploading a local file that comes right from your computer.  It's being uploaded through your browser to the remote Colab virtual machine.</a:t>
            </a:r>
            <a:endParaRPr lang="en-US" sz="1400" b="0" dirty="0">
              <a:solidFill>
                <a:srgbClr val="F8FAFC"/>
              </a:solidFill>
              <a:latin typeface="Aptos"/>
            </a:endParaRPr>
          </a:p>
        </p:txBody>
      </p: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2111B5-F089-4BB0-A179-F87E9C538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15" y="1700833"/>
            <a:ext cx="6472590" cy="38973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1 • INTERFACE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2800" b="1">
                <a:solidFill>
                  <a:srgbClr val="F8FAFC"/>
                </a:solidFill>
                <a:latin typeface="Aptos"/>
              </a:rPr>
              <a:t>Collab</a:t>
            </a:r>
            <a:r>
              <a:rPr sz="2800" b="1" dirty="0">
                <a:solidFill>
                  <a:srgbClr val="F8FAFC"/>
                </a:solidFill>
                <a:latin typeface="Aptos"/>
              </a:rPr>
              <a:t> Break-the-Ice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BCCADA"/>
                </a:solidFill>
                <a:latin typeface="Aptos"/>
              </a:rPr>
              <a:t>Before analyzing data, participants will practice the core notebook actions: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40280"/>
            <a:ext cx="5074920" cy="585216"/>
          </a:xfrm>
          <a:prstGeom prst="roundRect">
            <a:avLst/>
          </a:prstGeom>
          <a:solidFill>
            <a:srgbClr val="122746"/>
          </a:solidFill>
          <a:ln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39572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B400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35915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Open the Variables menu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240280"/>
            <a:ext cx="5074920" cy="585216"/>
          </a:xfrm>
          <a:prstGeom prst="roundRect">
            <a:avLst/>
          </a:prstGeom>
          <a:solidFill>
            <a:srgbClr val="122746"/>
          </a:solidFill>
          <a:ln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1" y="239572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B40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235915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Create a new notebook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063240"/>
            <a:ext cx="5074920" cy="585216"/>
          </a:xfrm>
          <a:prstGeom prst="roundRect">
            <a:avLst/>
          </a:prstGeom>
          <a:solidFill>
            <a:srgbClr val="122746"/>
          </a:solidFill>
          <a:ln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321868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B400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318211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Rename a notebook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063240"/>
            <a:ext cx="5074920" cy="585216"/>
          </a:xfrm>
          <a:prstGeom prst="roundRect">
            <a:avLst/>
          </a:prstGeom>
          <a:solidFill>
            <a:srgbClr val="122746"/>
          </a:solidFill>
          <a:ln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1" y="321868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B400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8" y="318211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Open code cells and text cells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86200"/>
            <a:ext cx="5074920" cy="585216"/>
          </a:xfrm>
          <a:prstGeom prst="roundRect">
            <a:avLst/>
          </a:prstGeom>
          <a:solidFill>
            <a:srgbClr val="122746"/>
          </a:solidFill>
          <a:ln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1832" y="404164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B400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400507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Open a terminal in a notebook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886200"/>
            <a:ext cx="5074920" cy="585216"/>
          </a:xfrm>
          <a:prstGeom prst="roundRect">
            <a:avLst/>
          </a:prstGeom>
          <a:solidFill>
            <a:srgbClr val="122746"/>
          </a:solidFill>
          <a:ln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28231" y="404164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B400"/>
                </a:solidFill>
                <a:latin typeface="Apto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8" y="400507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Restore notebooks using revision history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709160"/>
            <a:ext cx="5074920" cy="585216"/>
          </a:xfrm>
          <a:prstGeom prst="roundRect">
            <a:avLst/>
          </a:prstGeom>
          <a:solidFill>
            <a:srgbClr val="122746"/>
          </a:solidFill>
          <a:ln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1832" y="486460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B400"/>
                </a:solidFill>
                <a:latin typeface="Aptos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7048" y="482803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Manage sessions with Manage sessions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1 • PYTHON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Install the “Must-Know” Libraries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8</a:t>
            </a:r>
          </a:p>
        </p:txBody>
      </p:sp>
      <p:pic>
        <p:nvPicPr>
          <p:cNvPr id="9" name="Picture 8" descr="page004_img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60" y="1719871"/>
            <a:ext cx="7817610" cy="39329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650992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CCADA"/>
                </a:solidFill>
                <a:latin typeface="Aptos"/>
              </a:rPr>
              <a:t>Figure 2. Installations of “must know” libraries with pip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18295" y="1706017"/>
            <a:ext cx="3808092" cy="3911216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19463" y="1856232"/>
            <a:ext cx="3420133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WORKSHOP LIBRARIES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9463" y="2215436"/>
            <a:ext cx="3434510" cy="298543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0" dirty="0">
                <a:solidFill>
                  <a:srgbClr val="F8FAFC"/>
                </a:solidFill>
                <a:latin typeface="Aptos"/>
              </a:rPr>
              <a:t>Pyreadstat — SPSS file import</a:t>
            </a:r>
            <a:br>
              <a:rPr dirty="0"/>
            </a:br>
            <a:br>
              <a:rPr dirty="0"/>
            </a:br>
            <a:r>
              <a:rPr sz="1400" b="0" dirty="0">
                <a:solidFill>
                  <a:srgbClr val="F8FAFC"/>
                </a:solidFill>
                <a:latin typeface="Aptos"/>
              </a:rPr>
              <a:t>Pandas — data manipulation and DataFrames</a:t>
            </a:r>
            <a:br>
              <a:rPr dirty="0"/>
            </a:br>
            <a:br>
              <a:rPr dirty="0"/>
            </a:br>
            <a:r>
              <a:rPr sz="1400" b="0" dirty="0">
                <a:solidFill>
                  <a:srgbClr val="F8FAFC"/>
                </a:solidFill>
                <a:latin typeface="Aptos"/>
              </a:rPr>
              <a:t>NumPy — numerical/scientific computing</a:t>
            </a:r>
            <a:br>
              <a:rPr dirty="0"/>
            </a:br>
            <a:br>
              <a:rPr dirty="0"/>
            </a:br>
            <a:r>
              <a:rPr sz="1400" b="0" dirty="0">
                <a:solidFill>
                  <a:srgbClr val="F8FAFC"/>
                </a:solidFill>
                <a:latin typeface="Aptos"/>
              </a:rPr>
              <a:t>Matplotlib + Seaborn — visualization</a:t>
            </a:r>
            <a:br>
              <a:rPr dirty="0"/>
            </a:br>
            <a:br>
              <a:rPr dirty="0"/>
            </a:br>
            <a:r>
              <a:rPr sz="1400" b="0" dirty="0">
                <a:solidFill>
                  <a:srgbClr val="F8FAFC"/>
                </a:solidFill>
                <a:latin typeface="Aptos"/>
              </a:rPr>
              <a:t>SciPy — statistical tests</a:t>
            </a:r>
            <a:br>
              <a:rPr dirty="0"/>
            </a:br>
            <a:br>
              <a:rPr dirty="0"/>
            </a:br>
            <a:r>
              <a:rPr sz="1400" b="0" dirty="0">
                <a:solidFill>
                  <a:srgbClr val="F8FAFC"/>
                </a:solidFill>
                <a:latin typeface="Aptos"/>
              </a:rPr>
              <a:t>Statsmodels — statistical modeling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1 • SPSS </a:t>
            </a:r>
            <a:r>
              <a:rPr lang="en-US" sz="1100" b="1">
                <a:solidFill>
                  <a:srgbClr val="00BCD4"/>
                </a:solidFill>
                <a:latin typeface="Aptos"/>
              </a:rPr>
              <a:t>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Importing Research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9</a:t>
            </a:r>
          </a:p>
        </p:txBody>
      </p:sp>
      <p:pic>
        <p:nvPicPr>
          <p:cNvPr id="9" name="Picture 8" descr="page004_img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213" y="1717105"/>
            <a:ext cx="8183641" cy="24294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84004" y="4211781"/>
            <a:ext cx="539496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dirty="0">
                <a:solidFill>
                  <a:srgbClr val="BCCADA"/>
                </a:solidFill>
                <a:latin typeface="Aptos"/>
              </a:rPr>
              <a:t>Figure 3. Importing SPSS '.sav' files with </a:t>
            </a:r>
            <a:r>
              <a:rPr lang="en-US" sz="1000" dirty="0" err="1">
                <a:solidFill>
                  <a:srgbClr val="BCCADA"/>
                </a:solidFill>
                <a:latin typeface="Aptos"/>
              </a:rPr>
              <a:t>pyreadstat</a:t>
            </a:r>
            <a:endParaRPr lang="en-US" sz="1000" b="0" dirty="0" err="1">
              <a:solidFill>
                <a:srgbClr val="BCCADA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719178" y="4605956"/>
            <a:ext cx="5423714" cy="1263194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79136" y="4602203"/>
            <a:ext cx="4992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SPSS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6918" y="4921412"/>
            <a:ext cx="4992624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0" dirty="0">
                <a:solidFill>
                  <a:srgbClr val="F8FAFC"/>
                </a:solidFill>
                <a:latin typeface="Aptos"/>
              </a:rPr>
              <a:t>pyreadstat.read_sav(...) returns the data plus metadata, supporting variables and value labels common in educational datasets.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2 • 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Inspect &amp; Clean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64208"/>
            <a:ext cx="10698480" cy="6771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900" b="1" dirty="0">
                <a:solidFill>
                  <a:srgbClr val="F8FAFC"/>
                </a:solidFill>
                <a:latin typeface="Aptos"/>
              </a:rPr>
              <a:t>Pandas and NumPy help detect and correct inaccurate records so the dataset is reliable before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95728"/>
            <a:ext cx="3401568" cy="182880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560320"/>
            <a:ext cx="29992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COMMON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962656"/>
            <a:ext cx="299923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Handle missing values</a:t>
            </a:r>
            <a:br/>
            <a:r>
              <a:rPr sz="1500" b="0">
                <a:solidFill>
                  <a:srgbClr val="F8FAFC"/>
                </a:solidFill>
                <a:latin typeface="Aptos"/>
              </a:rPr>
              <a:t>Remove duplicate records</a:t>
            </a:r>
            <a:br/>
            <a:r>
              <a:rPr sz="1500" b="0">
                <a:solidFill>
                  <a:srgbClr val="F8FAFC"/>
                </a:solidFill>
                <a:latin typeface="Aptos"/>
              </a:rPr>
              <a:t>Correct errors</a:t>
            </a:r>
            <a:br/>
            <a:r>
              <a:rPr sz="1500" b="0">
                <a:solidFill>
                  <a:srgbClr val="F8FAFC"/>
                </a:solidFill>
                <a:latin typeface="Aptos"/>
              </a:rPr>
              <a:t>Standardize formats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395728"/>
            <a:ext cx="3401568" cy="182880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560320"/>
            <a:ext cx="29992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DESCRIPTIVE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962656"/>
            <a:ext cx="299923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Mean</a:t>
            </a:r>
            <a:br/>
            <a:r>
              <a:rPr sz="1500" b="0">
                <a:solidFill>
                  <a:srgbClr val="F8FAFC"/>
                </a:solidFill>
                <a:latin typeface="Aptos"/>
              </a:rPr>
              <a:t>Median</a:t>
            </a:r>
            <a:br/>
            <a:r>
              <a:rPr sz="1500" b="0">
                <a:solidFill>
                  <a:srgbClr val="F8FAFC"/>
                </a:solidFill>
                <a:latin typeface="Aptos"/>
              </a:rPr>
              <a:t>Mode</a:t>
            </a:r>
            <a:br/>
            <a:r>
              <a:rPr sz="1500" b="0">
                <a:solidFill>
                  <a:srgbClr val="F8FAFC"/>
                </a:solidFill>
                <a:latin typeface="Aptos"/>
              </a:rPr>
              <a:t>Distribution checks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2395728"/>
            <a:ext cx="3401568" cy="182880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2560320"/>
            <a:ext cx="29992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ECF8E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962656"/>
            <a:ext cx="299923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Cleaning connects directly to later analysis. Imputation—such as mean, median, or mode replacement—can preserve records when appropriate.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709160"/>
            <a:ext cx="292608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800" b="1" dirty="0">
                <a:solidFill>
                  <a:srgbClr val="F4B400"/>
                </a:solidFill>
                <a:latin typeface="Aptos"/>
              </a:rPr>
              <a:t>Pandas DataFrame</a:t>
            </a:r>
            <a:endParaRPr lang="en-US" sz="1800" b="1" dirty="0">
              <a:solidFill>
                <a:srgbClr val="F4B400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8368" y="5138928"/>
            <a:ext cx="10424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BCCADA"/>
                </a:solidFill>
                <a:latin typeface="Aptos"/>
              </a:rPr>
              <a:t>A two-dimensional labeled data structure whose columns can contain different data types—the central structure used throughout the workshop.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2 • FIRST 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800" b="1" dirty="0">
                <a:solidFill>
                  <a:srgbClr val="F8FAFC"/>
                </a:solidFill>
                <a:latin typeface="Aptos"/>
              </a:rPr>
              <a:t>Inspect the DataFrame</a:t>
            </a:r>
            <a:endParaRPr lang="en-US" sz="28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11</a:t>
            </a:r>
          </a:p>
        </p:txBody>
      </p:sp>
      <p:pic>
        <p:nvPicPr>
          <p:cNvPr id="9" name="Picture 8" descr="page005_img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98" y="1627632"/>
            <a:ext cx="6539739" cy="1783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3419856"/>
            <a:ext cx="66294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dirty="0">
                <a:solidFill>
                  <a:srgbClr val="BCCADA"/>
                </a:solidFill>
                <a:latin typeface="Aptos"/>
              </a:rPr>
              <a:t>Figure 5. Data manipulation using Pandas library (df.head())</a:t>
            </a:r>
          </a:p>
        </p:txBody>
      </p:sp>
      <p:pic>
        <p:nvPicPr>
          <p:cNvPr id="11" name="Picture 10" descr="page006_img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31" y="3977725"/>
            <a:ext cx="5170517" cy="447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4590288"/>
            <a:ext cx="521208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dirty="0">
                <a:solidFill>
                  <a:srgbClr val="BCCADA"/>
                </a:solidFill>
                <a:latin typeface="Aptos"/>
              </a:rPr>
              <a:t>Figure 6. Determine rows and columns (df.shape)</a:t>
            </a:r>
          </a:p>
        </p:txBody>
      </p:sp>
      <p:pic>
        <p:nvPicPr>
          <p:cNvPr id="13" name="Picture 12" descr="page006_img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510" y="3973039"/>
            <a:ext cx="5829870" cy="49736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45352" y="4590288"/>
            <a:ext cx="521208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dirty="0">
                <a:solidFill>
                  <a:srgbClr val="BCCADA"/>
                </a:solidFill>
                <a:latin typeface="Aptos"/>
              </a:rPr>
              <a:t>Figure 7. Determine column names (df.columns)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627632"/>
            <a:ext cx="3913632" cy="178308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44968" y="1792224"/>
            <a:ext cx="35112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THREE FAST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2194560"/>
            <a:ext cx="3511296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What does the data look like?</a:t>
            </a:r>
            <a:br/>
            <a:r>
              <a:rPr sz="1500" b="0">
                <a:solidFill>
                  <a:srgbClr val="F8FAFC"/>
                </a:solidFill>
                <a:latin typeface="Aptos"/>
              </a:rPr>
              <a:t>How large is it?</a:t>
            </a:r>
            <a:br/>
            <a:r>
              <a:rPr sz="1500" b="0">
                <a:solidFill>
                  <a:srgbClr val="F8FAFC"/>
                </a:solidFill>
                <a:latin typeface="Aptos"/>
              </a:rPr>
              <a:t>What variables are available?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2 • SPSS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Read the Metadata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12</a:t>
            </a:r>
          </a:p>
        </p:txBody>
      </p:sp>
      <p:pic>
        <p:nvPicPr>
          <p:cNvPr id="9" name="Picture 8" descr="page006_img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77554"/>
            <a:ext cx="5349240" cy="12764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3794760"/>
            <a:ext cx="534924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dirty="0">
                <a:solidFill>
                  <a:srgbClr val="BCCADA"/>
                </a:solidFill>
                <a:latin typeface="Aptos"/>
              </a:rPr>
              <a:t>Figure 8. Dataset metadata: meta.column_names</a:t>
            </a:r>
            <a:endParaRPr lang="en-US" sz="1000" b="0" dirty="0">
              <a:solidFill>
                <a:srgbClr val="BCCADA"/>
              </a:solidFill>
              <a:latin typeface="Aptos"/>
            </a:endParaRPr>
          </a:p>
        </p:txBody>
      </p:sp>
      <p:pic>
        <p:nvPicPr>
          <p:cNvPr id="11" name="Picture 10" descr="page006_img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037812"/>
            <a:ext cx="5285232" cy="82555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72200" y="3273552"/>
            <a:ext cx="5285232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dirty="0">
                <a:solidFill>
                  <a:srgbClr val="BCCADA"/>
                </a:solidFill>
                <a:latin typeface="Aptos"/>
              </a:rPr>
              <a:t>Figure 9. meta.variable_value_labels maps coded values to human-readable labels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2950" y="4315968"/>
            <a:ext cx="10831484" cy="117625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4480559"/>
            <a:ext cx="103875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RESEARCH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882896"/>
            <a:ext cx="10387584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Metadata preserves the meaning behind coded variables. For SPSS files, value-label dictionaries help translate numeric categories into interpretable labels before summarizing or modeling.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3 • CONDENSE → INTERPRET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Summarize Data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6420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  <a:latin typeface="Aptos"/>
              </a:rPr>
              <a:t>The goal is to turn a larger dataset into digestible representations that reveal averages, totals, counts, and trends.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514600"/>
            <a:ext cx="2487168" cy="987552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679192"/>
            <a:ext cx="20848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df.head()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081528"/>
            <a:ext cx="2084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preview 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9856" y="2514600"/>
            <a:ext cx="2487168" cy="987552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21024" y="2679192"/>
            <a:ext cx="20848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df.info()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3081528"/>
            <a:ext cx="2084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structure + types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2514600"/>
            <a:ext cx="2487168" cy="987552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2679192"/>
            <a:ext cx="20848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df.describe()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081528"/>
            <a:ext cx="2084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descriptive statistics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42832" y="2514600"/>
            <a:ext cx="2487168" cy="987552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0" y="2679192"/>
            <a:ext cx="20848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df.value_counts()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081528"/>
            <a:ext cx="2084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frequency counts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40480"/>
            <a:ext cx="2487168" cy="987552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" y="4005072"/>
            <a:ext cx="20848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df.groupby()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407408"/>
            <a:ext cx="2084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grouped summaries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19856" y="3840480"/>
            <a:ext cx="2487168" cy="987552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21024" y="4005072"/>
            <a:ext cx="20848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df.sort_values()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1024" y="4407408"/>
            <a:ext cx="2084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ordered records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1344" y="3840480"/>
            <a:ext cx="2487168" cy="987552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82512" y="4005072"/>
            <a:ext cx="20848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df.rename()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407408"/>
            <a:ext cx="2084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clearer variable names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42832" y="3840480"/>
            <a:ext cx="2487168" cy="987552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0" y="4005072"/>
            <a:ext cx="20848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df['new_var']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407408"/>
            <a:ext cx="2084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create/access a variable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3 • TWO CORE SUMMARIES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Descriptive Statistics &amp; Frequencies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14</a:t>
            </a:r>
          </a:p>
        </p:txBody>
      </p:sp>
      <p:pic>
        <p:nvPicPr>
          <p:cNvPr id="9" name="Picture 8" descr="page007_img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76044"/>
            <a:ext cx="5349240" cy="15057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3602736"/>
            <a:ext cx="534924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dirty="0">
                <a:solidFill>
                  <a:srgbClr val="BCCADA"/>
                </a:solidFill>
                <a:latin typeface="Aptos"/>
              </a:rPr>
              <a:t>Figure 10. df.describe() displays descriptive statistics for numerical data types</a:t>
            </a:r>
          </a:p>
        </p:txBody>
      </p:sp>
      <p:pic>
        <p:nvPicPr>
          <p:cNvPr id="11" name="Picture 10" descr="page007_img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854125"/>
            <a:ext cx="5257800" cy="16409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99632" y="3694176"/>
            <a:ext cx="5257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dirty="0">
                <a:solidFill>
                  <a:srgbClr val="BCCADA"/>
                </a:solidFill>
                <a:latin typeface="Aptos"/>
              </a:rPr>
              <a:t>Figure 11. df.value_counts() displays the frequency of unique 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2950" y="4315968"/>
            <a:ext cx="5390804" cy="1162396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4480559"/>
            <a:ext cx="49469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DESCRIBE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882896"/>
            <a:ext cx="4946903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Quickly inspect count, mean, standard deviation, quartiles, minimum, and maximum for numerical variables.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4315968"/>
            <a:ext cx="5230091" cy="120396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4480559"/>
            <a:ext cx="48554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VALUE COUNTS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82896"/>
            <a:ext cx="4855464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0" dirty="0">
                <a:solidFill>
                  <a:srgbClr val="F8FAFC"/>
                </a:solidFill>
                <a:latin typeface="Aptos"/>
              </a:rPr>
              <a:t>Count repeated values or combinations to identify common categories and patterns in the DataFrame.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3 • DF.GROUPBY()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Group, Compare, Interpret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15</a:t>
            </a:r>
          </a:p>
        </p:txBody>
      </p:sp>
      <p:pic>
        <p:nvPicPr>
          <p:cNvPr id="9" name="Picture 8" descr="page008_img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94193"/>
            <a:ext cx="6675120" cy="16591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3401568"/>
            <a:ext cx="667512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dirty="0">
                <a:solidFill>
                  <a:srgbClr val="BCCADA"/>
                </a:solidFill>
                <a:latin typeface="Aptos"/>
              </a:rPr>
              <a:t>Figure 12. Displaying mean_gpa using the </a:t>
            </a:r>
            <a:r>
              <a:rPr sz="1000" b="0" dirty="0" err="1">
                <a:solidFill>
                  <a:srgbClr val="BCCADA"/>
                </a:solidFill>
                <a:latin typeface="Aptos"/>
              </a:rPr>
              <a:t>df.groupby</a:t>
            </a:r>
            <a:r>
              <a:rPr sz="1000" b="0" dirty="0">
                <a:solidFill>
                  <a:srgbClr val="BCCADA"/>
                </a:solidFill>
                <a:latin typeface="Aptos"/>
              </a:rPr>
              <a:t>() function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7808" y="1691640"/>
            <a:ext cx="3840480" cy="146304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08976" y="1856232"/>
            <a:ext cx="3438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THE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8976" y="2258568"/>
            <a:ext cx="3438144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500" b="0" dirty="0">
                <a:solidFill>
                  <a:srgbClr val="F8FAFC"/>
                </a:solidFill>
                <a:latin typeface="Aptos"/>
              </a:rPr>
              <a:t>How does mean GPA vary across different values of study_hours?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07808" y="3351138"/>
            <a:ext cx="3826626" cy="1670857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08976" y="3529584"/>
            <a:ext cx="3438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THE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8976" y="3931920"/>
            <a:ext cx="3438144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Grouping lets researchers summarize an outcome within meaningful categories or values before moving to visualization and modeling.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85232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3ECF8E"/>
                </a:solidFill>
                <a:latin typeface="Aptos"/>
              </a:rPr>
              <a:t>Summaries are not the endpoint—they are the bridge from raw records to research questions.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4 • NUMERICAL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NumPy + Data Visualization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91640"/>
            <a:ext cx="5166360" cy="192024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856232"/>
            <a:ext cx="47640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NUMPY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58568"/>
            <a:ext cx="4764024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Core scientific-computing package for large multidimensional arrays and matrices. Workshop functions include np.where(), np.log(), np.mean(), and np.std().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691640"/>
            <a:ext cx="5303520" cy="192024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45936" y="1856232"/>
            <a:ext cx="4901183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MATPLOTLIB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258568"/>
            <a:ext cx="4901183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500" b="0" dirty="0">
                <a:solidFill>
                  <a:srgbClr val="F8FAFC"/>
                </a:solidFill>
                <a:latin typeface="Aptos"/>
              </a:rPr>
              <a:t>Matplotlib: </a:t>
            </a:r>
            <a:r>
              <a:rPr sz="1500" b="0" dirty="0" err="1">
                <a:solidFill>
                  <a:srgbClr val="F8FAFC"/>
                </a:solidFill>
                <a:latin typeface="Aptos"/>
              </a:rPr>
              <a:t>plt.scatter</a:t>
            </a:r>
            <a:r>
              <a:rPr sz="1500" b="0" dirty="0">
                <a:solidFill>
                  <a:srgbClr val="F8FAFC"/>
                </a:solidFill>
                <a:latin typeface="Aptos"/>
              </a:rPr>
              <a:t>(), </a:t>
            </a:r>
            <a:r>
              <a:rPr sz="1500" b="0" dirty="0" err="1">
                <a:solidFill>
                  <a:srgbClr val="F8FAFC"/>
                </a:solidFill>
                <a:latin typeface="Aptos"/>
              </a:rPr>
              <a:t>plt.hist</a:t>
            </a:r>
            <a:r>
              <a:rPr sz="1500" b="0" dirty="0">
                <a:solidFill>
                  <a:srgbClr val="F8FAFC"/>
                </a:solidFill>
                <a:latin typeface="Aptos"/>
              </a:rPr>
              <a:t>(), </a:t>
            </a:r>
            <a:r>
              <a:rPr sz="1500" b="0" dirty="0" err="1">
                <a:solidFill>
                  <a:srgbClr val="F8FAFC"/>
                </a:solidFill>
                <a:latin typeface="Aptos"/>
              </a:rPr>
              <a:t>plt.boxplot</a:t>
            </a:r>
            <a:r>
              <a:rPr sz="1500" b="0" dirty="0">
                <a:solidFill>
                  <a:srgbClr val="F8FAFC"/>
                </a:solidFill>
                <a:latin typeface="Aptos"/>
              </a:rPr>
              <a:t>(), </a:t>
            </a:r>
            <a:r>
              <a:rPr sz="1500" b="0" dirty="0" err="1">
                <a:solidFill>
                  <a:srgbClr val="F8FAFC"/>
                </a:solidFill>
                <a:latin typeface="Aptos"/>
              </a:rPr>
              <a:t>plt.bar</a:t>
            </a:r>
            <a:r>
              <a:rPr sz="1500" b="0" dirty="0">
                <a:solidFill>
                  <a:srgbClr val="F8FAFC"/>
                </a:solidFill>
                <a:latin typeface="Aptos"/>
              </a:rPr>
              <a:t>()</a:t>
            </a:r>
            <a:endParaRPr lang="en-US" b="0" dirty="0"/>
          </a:p>
        </p:txBody>
      </p:sp>
      <p:sp>
        <p:nvSpPr>
          <p:cNvPr id="15" name="TextBox 14"/>
          <p:cNvSpPr txBox="1"/>
          <p:nvPr/>
        </p:nvSpPr>
        <p:spPr>
          <a:xfrm>
            <a:off x="868680" y="4224528"/>
            <a:ext cx="10195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Aptos"/>
              </a:rPr>
              <a:t>Visualization supports interpretation, exploration, and communication of patterns in educational and scientific datasets.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23036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ECF8E"/>
                </a:solidFill>
                <a:latin typeface="Aptos Mono"/>
              </a:rPr>
              <a:t>NUMERICAL OPERATIONS  →  SUMMARY  →  VISUAL PATTERN  →  STATISTICAL MODEL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4 • NUMPY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Standard Deviation in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17</a:t>
            </a:r>
          </a:p>
        </p:txBody>
      </p:sp>
      <p:pic>
        <p:nvPicPr>
          <p:cNvPr id="9" name="Picture 8" descr="page008_img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13951"/>
            <a:ext cx="6629400" cy="25020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102352"/>
            <a:ext cx="6629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CCADA"/>
                </a:solidFill>
                <a:latin typeface="Aptos"/>
              </a:rPr>
              <a:t>Figure 13. np.std() demonstrating standard deviation across numeric variables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231" y="1664208"/>
            <a:ext cx="3886200" cy="141732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0" y="1828800"/>
            <a:ext cx="34838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WHAT IT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231136"/>
            <a:ext cx="3483864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np.std() measures dispersion: how far values tend to spread around their mean.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71231" y="3310128"/>
            <a:ext cx="3886200" cy="141732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3474720"/>
            <a:ext cx="34838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WORKSHOP CONNECTION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877056"/>
            <a:ext cx="3483864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Use numerical summaries to identify scale, variability, and possible issues before visualizing or modeling.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4 • SCATTERPLOT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See the Relationship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18</a:t>
            </a:r>
          </a:p>
        </p:txBody>
      </p:sp>
      <p:pic>
        <p:nvPicPr>
          <p:cNvPr id="9" name="Picture 8" descr="page009_img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990" y="1600200"/>
            <a:ext cx="5180715" cy="4251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879592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CCADA"/>
                </a:solidFill>
                <a:latin typeface="Aptos"/>
              </a:rPr>
              <a:t>Figure 14. sns.scatterplot() — GPA vs. Study Hours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664208"/>
            <a:ext cx="3931920" cy="132588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99248" y="1828800"/>
            <a:ext cx="35295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231136"/>
            <a:ext cx="3529584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Aptos"/>
              </a:rPr>
              <a:t>Study hours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3182112"/>
            <a:ext cx="3931920" cy="132588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99248" y="3346704"/>
            <a:ext cx="35295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3749039"/>
            <a:ext cx="3529584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Aptos"/>
              </a:rPr>
              <a:t>GPA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700016"/>
            <a:ext cx="3946297" cy="1340429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99248" y="4864607"/>
            <a:ext cx="35295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ECF8E"/>
                </a:solidFill>
                <a:latin typeface="Aptos"/>
              </a:rPr>
              <a:t>WHY PLOT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5266944"/>
            <a:ext cx="35295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Visualization reveals shape, spread, outliers, and the plausibility of a relationship before formal modeling.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5 • SCIPY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From Visualization to Statistical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82496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Linear regression is presented as the bridge where data visualization meets statistical modeling.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78661" y="2487168"/>
            <a:ext cx="8112281" cy="214884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23338" y="2651760"/>
            <a:ext cx="4992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SIMPLE LINEAR 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6282" y="3284135"/>
            <a:ext cx="5725869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Participants see how Python syntax can connect a predictor and outcome, generate predictions, and visualize model performance.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166360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ECF8E"/>
                </a:solidFill>
                <a:latin typeface="Aptos Mono"/>
              </a:rPr>
              <a:t>Question → test/model → output → interpretation → visualization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PART 5 • SIMPLE LINEAR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Visualize Model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20</a:t>
            </a:r>
          </a:p>
        </p:txBody>
      </p:sp>
      <p:pic>
        <p:nvPicPr>
          <p:cNvPr id="9" name="Picture 8" descr="page010_img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31191"/>
            <a:ext cx="6812280" cy="40802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742432"/>
            <a:ext cx="6812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CCADA"/>
                </a:solidFill>
                <a:latin typeface="Aptos"/>
              </a:rPr>
              <a:t>Figure 15. Scatter plot visualizing the performance of a linear regression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35824" y="1627632"/>
            <a:ext cx="3730752" cy="128016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36992" y="1792224"/>
            <a:ext cx="3328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ACTUAL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6992" y="2194560"/>
            <a:ext cx="3328416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Observed study-hours values in the dataset.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35824" y="3108960"/>
            <a:ext cx="3730752" cy="128016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36992" y="3273552"/>
            <a:ext cx="3328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PREDICTED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3675887"/>
            <a:ext cx="3328416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Values generated by the fitted linear regression model.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35824" y="4590288"/>
            <a:ext cx="3701998" cy="1254108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36992" y="4754879"/>
            <a:ext cx="3328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ECF8E"/>
                </a:solidFill>
                <a:latin typeface="Aptos"/>
              </a:rPr>
              <a:t>INTERPRET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5157216"/>
            <a:ext cx="332841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Compare observed and predicted values to discuss fit, residuals, and model usefulness.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WHAT TO LEAVE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91640"/>
            <a:ext cx="3383280" cy="164592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856232"/>
            <a:ext cx="2980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58568"/>
            <a:ext cx="2980944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Colab lowers setup barriers and moves execution to cloud-based compute.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691640"/>
            <a:ext cx="3383280" cy="164592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2855" y="1856232"/>
            <a:ext cx="2980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5" y="2258568"/>
            <a:ext cx="2980944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Pandas and Pyreadstat make educational data and SPSS metadata easier to inspect.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91640"/>
            <a:ext cx="3383280" cy="164592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6" y="1856232"/>
            <a:ext cx="2980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ECF8E"/>
                </a:solidFill>
                <a:latin typeface="Aptos"/>
              </a:rPr>
              <a:t>NUMERACY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258568"/>
            <a:ext cx="2980944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NumPy supports efficient numerical operations and foundational scientific computing.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657600"/>
            <a:ext cx="3383280" cy="164592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3822191"/>
            <a:ext cx="2980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COMMUNICATION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224528"/>
            <a:ext cx="2980944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Matplotlib and Seaborn turn numerical patterns into interpretable visual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1688" y="3657600"/>
            <a:ext cx="3383280" cy="164592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62855" y="3822191"/>
            <a:ext cx="2980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B400"/>
                </a:solidFill>
                <a:latin typeface="Aptos"/>
              </a:rPr>
              <a:t>INFERENCE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2855" y="4224528"/>
            <a:ext cx="2980944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SciPy and Statsmodels extend the workflow into testing and statistical modeling.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8" y="3657600"/>
            <a:ext cx="3383280" cy="164592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66176" y="3822191"/>
            <a:ext cx="2980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ECF8E"/>
                </a:solidFill>
                <a:latin typeface="Aptos"/>
              </a:rPr>
              <a:t>TRANSFER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6" y="4224528"/>
            <a:ext cx="2980944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The same workflow can be adapted to participants’ own educational and scientific research questions.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228" y="658368"/>
            <a:ext cx="10972800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Questions + Next Steps</a:t>
            </a:r>
          </a:p>
          <a:p>
            <a:r>
              <a:rPr lang="en-US" sz="2800" b="1">
                <a:solidFill>
                  <a:srgbClr val="F8FAFC"/>
                </a:solidFill>
                <a:latin typeface="Aptos"/>
              </a:rPr>
              <a:t>Scan the QR Code &amp; Take a Survey</a:t>
            </a:r>
            <a:endParaRPr lang="en-US" sz="28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677435"/>
            <a:ext cx="91440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CCADA"/>
                </a:solidFill>
                <a:latin typeface="Aptos"/>
              </a:rPr>
              <a:t>MWERA 2026  •  Expressive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CCADA"/>
                </a:solidFill>
                <a:latin typeface="Aptos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123" y="1726893"/>
            <a:ext cx="10799121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4B400"/>
                </a:solidFill>
                <a:latin typeface="Aptos"/>
              </a:rPr>
              <a:t>What will you analyze with Python next?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987552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800" b="0" dirty="0">
                <a:solidFill>
                  <a:srgbClr val="F8FAFC"/>
                </a:solidFill>
                <a:latin typeface="Aptos"/>
              </a:rPr>
              <a:t>Suggested next step: open a Colab notebook, import a small dataset, inspect it, summarize one variable, visualize one relationship, and run one statistical test or 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069080"/>
            <a:ext cx="8503920" cy="1143000"/>
          </a:xfrm>
          <a:prstGeom prst="roundRect">
            <a:avLst/>
          </a:prstGeom>
          <a:solidFill>
            <a:srgbClr val="122746"/>
          </a:solidFill>
          <a:ln w="12700">
            <a:solidFill>
              <a:srgbClr val="32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29968" y="4233672"/>
            <a:ext cx="81015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4636008"/>
            <a:ext cx="8101584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Rathod, D. P. R. (2025). Python’s Potential to Enhance Learning in Higher and Distance Education. 12(3).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7150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BCD4"/>
                </a:solidFill>
                <a:latin typeface="Aptos"/>
              </a:rPr>
              <a:t>Thank you</a:t>
            </a:r>
          </a:p>
        </p:txBody>
      </p:sp>
      <p:pic>
        <p:nvPicPr>
          <p:cNvPr id="15" name="Picture 14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9AA589C7-2641-6BDD-CBE7-3C1D45564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1841" y="-1885"/>
            <a:ext cx="2331725" cy="22548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383</cp:revision>
  <dcterms:created xsi:type="dcterms:W3CDTF">2013-01-27T09:14:16Z</dcterms:created>
  <dcterms:modified xsi:type="dcterms:W3CDTF">2026-10-22T20:17:52Z</dcterms:modified>
  <cp:category/>
</cp:coreProperties>
</file>